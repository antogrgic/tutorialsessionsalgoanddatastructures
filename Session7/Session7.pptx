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6"/>
  </p:notesMasterIdLst>
  <p:handoutMasterIdLst>
    <p:handoutMasterId r:id="rId17"/>
  </p:handoutMasterIdLst>
  <p:sldIdLst>
    <p:sldId id="346" r:id="rId5"/>
    <p:sldId id="335" r:id="rId6"/>
    <p:sldId id="355" r:id="rId7"/>
    <p:sldId id="365" r:id="rId8"/>
    <p:sldId id="380" r:id="rId9"/>
    <p:sldId id="378" r:id="rId10"/>
    <p:sldId id="381" r:id="rId11"/>
    <p:sldId id="382" r:id="rId12"/>
    <p:sldId id="383" r:id="rId13"/>
    <p:sldId id="379" r:id="rId14"/>
    <p:sldId id="357" r:id="rId15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355"/>
            <p14:sldId id="365"/>
            <p14:sldId id="380"/>
            <p14:sldId id="378"/>
            <p14:sldId id="381"/>
            <p14:sldId id="382"/>
            <p14:sldId id="383"/>
            <p14:sldId id="379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94" autoAdjust="0"/>
  </p:normalViewPr>
  <p:slideViewPr>
    <p:cSldViewPr showGuides="1">
      <p:cViewPr varScale="1">
        <p:scale>
          <a:sx n="83" d="100"/>
          <a:sy n="83" d="100"/>
        </p:scale>
        <p:origin x="381" y="3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23.04.2026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23.04.2026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515E362-FD09-4668-88D0-DD938814C8D5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B7827833-B3EB-4D22-BDF4-3587D1185BAB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8C16490-B6B0-45CE-820B-001EE801F293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B43C91-F0D8-4D10-AD7C-80106A87C29F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20089-3297-4BE2-B75D-7802F1A971AD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5245-EA34-4D3A-B244-6B1F8D9D1BFC}" type="datetime1">
              <a:rPr lang="en-GB" smtClean="0"/>
              <a:t>23/04/2026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Grgic Anto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6893-FD8B-47A3-B1A8-FB4C75AB05E7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7B6A-5CC5-4D65-8051-2CD5B188935C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751F-4954-4452-BFF4-12ED94DF4FA2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2DB27F-F071-4A95-9EEE-5C5CBF64EE26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0781FC-1424-4209-8A6E-9A2144BB4E72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39C5B1-C2A0-4DDD-92D8-000840688964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E4C3-9C6E-4FD5-958F-990E93D47FB5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F690C5-E137-4007-8D4D-76228B1F67DB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47-EF2E-46FA-9B55-BB5AE14DC90C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5A84FF-55FD-4307-A84C-1706BE180F7F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507E7-22DC-4FF9-A96B-4B72D63E2C34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9E2C6A-27AF-44E0-BCA7-589AA25EC4BE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FC6-1E20-4BFB-AA94-CA2B6A0C001C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8EB-C510-46A4-AC06-3410590A9997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AAB7-925B-4FF0-9C4C-ED84A2794D7B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DD47-B5A0-4950-A19A-43F01AC30E13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C6AB-D72C-4DB2-B412-E0727C77E8DE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8F40-4162-43B2-8892-FE05E38730A8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22E3-8667-4CBC-89DA-665A2A12A766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CAA3-0E26-4D77-9861-DAEB699CEE1D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D8B0-C1F6-401E-A49C-9F8317A00928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3AD7-DD44-4CC1-898B-5978DEB5542A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0C8-24DA-4554-A89F-E5537E310C1A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5019D3-7194-40B8-AC7F-62CE5FB72B83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3B95B4-305B-416A-97B6-6B425E07ADA1}" type="datetime1">
              <a:rPr lang="en-GB" noProof="0" smtClean="0"/>
              <a:t>23/04/2026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9771-FEDF-4EB5-8B31-317E659CFCEB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1FF8-B7CE-4EC3-A346-E51C1211B498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E76-746B-4D58-8B44-9105BE8285E3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F74-EB35-4861-A493-181201845457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ACFC5840-8FE0-42F7-AFBC-7CEE90AF5A88}" type="datetime1">
              <a:rPr lang="en-GB" noProof="0" smtClean="0"/>
              <a:t>23/04/2026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/>
              <a:t>Department of informatics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2918349" cy="1763716"/>
          </a:xfrm>
        </p:spPr>
        <p:txBody>
          <a:bodyPr/>
          <a:lstStyle/>
          <a:p>
            <a:r>
              <a:rPr lang="en-GB" noProof="0" dirty="0"/>
              <a:t>Informatics II</a:t>
            </a:r>
          </a:p>
          <a:p>
            <a:pPr lvl="1"/>
            <a:r>
              <a:rPr lang="en-GB" dirty="0"/>
              <a:t>Exercise 7</a:t>
            </a:r>
            <a:endParaRPr lang="en-GB" noProof="0" dirty="0"/>
          </a:p>
          <a:p>
            <a:pPr lvl="2"/>
            <a:r>
              <a:rPr lang="en-GB" dirty="0"/>
              <a:t>Grgic Anto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9836-3FC1-2E7C-818B-1F31930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6D0C-2C7A-C50E-F3BF-13FABE8C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946ECE-37E8-8B2E-C2FE-8429FF534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867470"/>
              </p:ext>
            </p:extLst>
          </p:nvPr>
        </p:nvGraphicFramePr>
        <p:xfrm>
          <a:off x="267738" y="628381"/>
          <a:ext cx="7017034" cy="56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81376604"/>
                    </a:ext>
                  </a:extLst>
                </a:gridCol>
                <a:gridCol w="6063264">
                  <a:extLst>
                    <a:ext uri="{9D8B030D-6E8A-4147-A177-3AD203B41FA5}">
                      <a16:colId xmlns:a16="http://schemas.microsoft.com/office/drawing/2014/main" val="426200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930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27. Feb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C environment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70131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06.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dirty="0">
                          <a:effectLst/>
                        </a:rPr>
                        <a:t> Ex1(Introduction to C, basic sorting)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348291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13.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Ex2 (Recursion)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40135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20.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Ex3 (Complexity, Correctness)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4132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27.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Ex4 (Divide and Conquer, Recurrence)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191496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03. Apr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Spring break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433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17.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Ex6 (Pointers, Linked Lists)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81961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24.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Ex7(ADTs, Stacks, Queues)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45007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01. May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Labor day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6440526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dirty="0"/>
                        <a:t>08.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</a:t>
                      </a:r>
                      <a:r>
                        <a:rPr lang="en-US" dirty="0">
                          <a:effectLst/>
                        </a:rPr>
                        <a:t>Ex8 (Binary (Search) Tree, AVL Tree)</a:t>
                      </a:r>
                      <a:endParaRPr lang="de-CH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45815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15.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Ex9 (Hash Tables)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91437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22.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Ex10 (Dynamic Programming)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365515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/>
                        <a:t>29. </a:t>
                      </a:r>
                      <a:r>
                        <a:rPr lang="en-US" dirty="0"/>
                        <a:t>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Ex11 (Graphs)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268200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04. Jun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Exam at Messe 16:00-19:00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0874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7DBEAF-F81E-BE0E-1D87-88E464380ED7}"/>
              </a:ext>
            </a:extLst>
          </p:cNvPr>
          <p:cNvSpPr txBox="1"/>
          <p:nvPr/>
        </p:nvSpPr>
        <p:spPr>
          <a:xfrm>
            <a:off x="6456040" y="606389"/>
            <a:ext cx="5400600" cy="241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	</a:t>
            </a:r>
            <a:endParaRPr lang="en-C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521A6-1BE6-3821-692B-C3C633CFAAB9}"/>
              </a:ext>
            </a:extLst>
          </p:cNvPr>
          <p:cNvSpPr txBox="1"/>
          <p:nvPr/>
        </p:nvSpPr>
        <p:spPr>
          <a:xfrm>
            <a:off x="7464152" y="631805"/>
            <a:ext cx="4104456" cy="19302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recap session has been shifted to next week!! </a:t>
            </a:r>
          </a:p>
          <a:p>
            <a:r>
              <a:rPr lang="en-US" b="1" dirty="0">
                <a:solidFill>
                  <a:srgbClr val="FF0000"/>
                </a:solidFill>
              </a:rPr>
              <a:t>All topics from next week onwards will be discussed one week later!!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Next week on Friday is Labor day. If you want to participate in the recap session please visit another Lab!</a:t>
            </a:r>
            <a:endParaRPr lang="en-C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FDC-B15D-DDEB-8B06-7311CC7F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B799-25B6-C742-7881-5FD1CF6F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Abstract Data Types (ADTs)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308DF-3C47-26F3-8446-833837E5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A3B8-7407-0B90-37CB-6D57F79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8A19072-03CE-2932-52E4-1059AD95D8C2}"/>
              </a:ext>
            </a:extLst>
          </p:cNvPr>
          <p:cNvSpPr txBox="1"/>
          <p:nvPr/>
        </p:nvSpPr>
        <p:spPr>
          <a:xfrm>
            <a:off x="119336" y="1268760"/>
            <a:ext cx="11593288" cy="410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ADTs are a mathematical abstract model of a data type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ADTs describe the </a:t>
            </a:r>
            <a:r>
              <a:rPr lang="en-US" b="1" dirty="0">
                <a:solidFill>
                  <a:srgbClr val="FFC000"/>
                </a:solidFill>
              </a:rPr>
              <a:t>structure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a data type, which </a:t>
            </a:r>
            <a:r>
              <a:rPr lang="en-US" b="1" dirty="0">
                <a:solidFill>
                  <a:srgbClr val="FFC000"/>
                </a:solidFill>
              </a:rPr>
              <a:t>operation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are available and computable and how those 	  operation should </a:t>
            </a:r>
            <a:r>
              <a:rPr lang="en-US" b="1" dirty="0">
                <a:solidFill>
                  <a:srgbClr val="FFC000"/>
                </a:solidFill>
              </a:rPr>
              <a:t>behave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(in terms of </a:t>
            </a:r>
            <a:r>
              <a:rPr lang="de-CH" b="1" dirty="0"/>
              <a:t>preconditions, postconditions, input/output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ADTs do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specify the implementation of the data type </a:t>
            </a:r>
            <a:r>
              <a:rPr lang="en-US" b="1" dirty="0">
                <a:solidFill>
                  <a:srgbClr val="FF0000"/>
                </a:solidFill>
              </a:rPr>
              <a:t>NOR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implementation of the operation (</a:t>
            </a:r>
            <a:r>
              <a:rPr lang="en-US" b="1" dirty="0"/>
              <a:t>Example of</a:t>
            </a:r>
          </a:p>
          <a:p>
            <a:r>
              <a:rPr lang="en-US" b="1" dirty="0"/>
              <a:t>  abstraction in software design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ADTs are the </a:t>
            </a:r>
            <a:r>
              <a:rPr lang="en-US" b="1" dirty="0">
                <a:solidFill>
                  <a:srgbClr val="FFC000"/>
                </a:solidFill>
              </a:rPr>
              <a:t>blueprint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of a class, it tells you what data the class represent, which operations are available and how 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the operation should behave, then the class </a:t>
            </a:r>
            <a:r>
              <a:rPr lang="en-US" b="1" dirty="0">
                <a:solidFill>
                  <a:srgbClr val="FFC000"/>
                </a:solidFill>
              </a:rPr>
              <a:t>implements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blueprint in concreate code.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4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EBE1-97E4-6FB5-B006-7C718A2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09F68-C736-C09D-720A-9A4C9446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Staks and queues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2CD91-9EFE-C4A0-F70F-B107F178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31756-48D8-EEB1-DD05-6C93236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7FB622-9C87-2298-AED8-A5E8E5214CB3}"/>
              </a:ext>
            </a:extLst>
          </p:cNvPr>
          <p:cNvSpPr txBox="1"/>
          <p:nvPr/>
        </p:nvSpPr>
        <p:spPr>
          <a:xfrm>
            <a:off x="-816048" y="908720"/>
            <a:ext cx="12239200" cy="4343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Both are data structure used to hold data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ym typeface="Wingdings" panose="05000000000000000000" pitchFamily="2" charset="2"/>
              </a:rPr>
              <a:t>	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The main difference between them is how insertion/extraction work.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	</a:t>
            </a:r>
            <a:r>
              <a:rPr lang="en-US" b="1" dirty="0">
                <a:sym typeface="Wingdings" panose="05000000000000000000" pitchFamily="2" charset="2"/>
              </a:rPr>
              <a:t>- Stacks: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LIFO</a:t>
            </a:r>
            <a:r>
              <a:rPr lang="en-US" b="1" dirty="0">
                <a:sym typeface="Wingdings" panose="05000000000000000000" pitchFamily="2" charset="2"/>
              </a:rPr>
              <a:t> (Last In, First Out). Last element inserted into the stack is the first to get extracted.</a:t>
            </a:r>
          </a:p>
          <a:p>
            <a:r>
              <a:rPr lang="en-US" b="1" dirty="0">
                <a:sym typeface="Wingdings" panose="05000000000000000000" pitchFamily="2" charset="2"/>
              </a:rPr>
              <a:t>			- Stacks have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one point of access</a:t>
            </a:r>
            <a:r>
              <a:rPr lang="en-US" b="1" dirty="0">
                <a:sym typeface="Wingdings" panose="05000000000000000000" pitchFamily="2" charset="2"/>
              </a:rPr>
              <a:t>, insertion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push</a:t>
            </a:r>
            <a:r>
              <a:rPr lang="en-US" b="1" dirty="0">
                <a:sym typeface="Wingdings" panose="05000000000000000000" pitchFamily="2" charset="2"/>
              </a:rPr>
              <a:t>, extraction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pop</a:t>
            </a:r>
            <a:r>
              <a:rPr lang="en-US" b="1" dirty="0">
                <a:sym typeface="Wingdings" panose="05000000000000000000" pitchFamily="2" charset="2"/>
              </a:rPr>
              <a:t>, the fist element 			  to get extracted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top</a:t>
            </a:r>
            <a:r>
              <a:rPr lang="en-US" b="1" dirty="0">
                <a:sym typeface="Wingdings" panose="05000000000000000000" pitchFamily="2" charset="2"/>
              </a:rPr>
              <a:t>.</a:t>
            </a:r>
          </a:p>
          <a:p>
            <a:r>
              <a:rPr lang="en-US" b="1" dirty="0">
                <a:sym typeface="Wingdings" panose="05000000000000000000" pitchFamily="2" charset="2"/>
              </a:rPr>
              <a:t>		- Queues: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FIFO</a:t>
            </a:r>
            <a:r>
              <a:rPr lang="en-US" b="1" dirty="0">
                <a:sym typeface="Wingdings" panose="05000000000000000000" pitchFamily="2" charset="2"/>
              </a:rPr>
              <a:t> (First In, First Out). First element inserted into the queue is the first to get extracted.</a:t>
            </a:r>
          </a:p>
          <a:p>
            <a:r>
              <a:rPr lang="en-US" b="1" dirty="0">
                <a:sym typeface="Wingdings" panose="05000000000000000000" pitchFamily="2" charset="2"/>
              </a:rPr>
              <a:t>			- Queue have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two point of access</a:t>
            </a:r>
            <a:r>
              <a:rPr lang="en-US" b="1" dirty="0">
                <a:sym typeface="Wingdings" panose="05000000000000000000" pitchFamily="2" charset="2"/>
              </a:rPr>
              <a:t>, insertion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enqueue</a:t>
            </a:r>
            <a:r>
              <a:rPr lang="en-US" b="1" dirty="0">
                <a:sym typeface="Wingdings" panose="05000000000000000000" pitchFamily="2" charset="2"/>
              </a:rPr>
              <a:t>, extraction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dequeue</a:t>
            </a:r>
            <a:r>
              <a:rPr lang="en-US" b="1" dirty="0">
                <a:sym typeface="Wingdings" panose="05000000000000000000" pitchFamily="2" charset="2"/>
              </a:rPr>
              <a:t>, the </a:t>
            </a:r>
          </a:p>
          <a:p>
            <a:r>
              <a:rPr lang="en-US" b="1" dirty="0">
                <a:sym typeface="Wingdings" panose="05000000000000000000" pitchFamily="2" charset="2"/>
              </a:rPr>
              <a:t>			  first element to get extracted is called </a:t>
            </a:r>
            <a:r>
              <a:rPr lang="en-US" b="1" dirty="0">
                <a:solidFill>
                  <a:srgbClr val="FFC000"/>
                </a:solidFill>
                <a:sym typeface="Wingdings" panose="05000000000000000000" pitchFamily="2" charset="2"/>
              </a:rPr>
              <a:t>front</a:t>
            </a:r>
            <a:r>
              <a:rPr lang="en-US" b="1" dirty="0">
                <a:sym typeface="Wingdings" panose="05000000000000000000" pitchFamily="2" charset="2"/>
              </a:rPr>
              <a:t>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- The basic operation they support are: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	</a:t>
            </a:r>
            <a:r>
              <a:rPr lang="en-US" b="1" dirty="0">
                <a:sym typeface="Wingdings" panose="05000000000000000000" pitchFamily="2" charset="2"/>
              </a:rPr>
              <a:t>- push(e) / enqueue(e): Puts element e in the insertion point of access (top / rear) </a:t>
            </a:r>
          </a:p>
          <a:p>
            <a:r>
              <a:rPr lang="en-US" b="1" dirty="0">
                <a:sym typeface="Wingdings" panose="05000000000000000000" pitchFamily="2" charset="2"/>
              </a:rPr>
              <a:t>		- pop() / dequeue(): Takes element from extraction point of access (top / front), deletes it from the structure </a:t>
            </a:r>
          </a:p>
          <a:p>
            <a:r>
              <a:rPr lang="en-US" b="1" dirty="0">
                <a:sym typeface="Wingdings" panose="05000000000000000000" pitchFamily="2" charset="2"/>
              </a:rPr>
              <a:t>		  and returns it.</a:t>
            </a:r>
          </a:p>
          <a:p>
            <a:r>
              <a:rPr lang="en-US" b="1" dirty="0">
                <a:sym typeface="Wingdings" panose="05000000000000000000" pitchFamily="2" charset="2"/>
              </a:rPr>
              <a:t>		- top() or peek()/ front(): Returns the element from extraction point of access (top / front)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WITHOUT</a:t>
            </a:r>
            <a:r>
              <a:rPr lang="en-US" b="1" dirty="0">
                <a:sym typeface="Wingdings" panose="05000000000000000000" pitchFamily="2" charset="2"/>
              </a:rPr>
              <a:t> deleting</a:t>
            </a:r>
          </a:p>
          <a:p>
            <a:r>
              <a:rPr lang="en-US" b="1" dirty="0">
                <a:sym typeface="Wingdings" panose="05000000000000000000" pitchFamily="2" charset="2"/>
              </a:rPr>
              <a:t>		  it from the structure.</a:t>
            </a:r>
          </a:p>
          <a:p>
            <a:pPr lvl="4" indent="0">
              <a:buNone/>
            </a:pPr>
            <a:r>
              <a:rPr lang="en-US" b="1" dirty="0">
                <a:sym typeface="Wingdings" panose="05000000000000000000" pitchFamily="2" charset="2"/>
              </a:rPr>
              <a:t>		- </a:t>
            </a:r>
            <a:r>
              <a:rPr lang="en-US" b="1" dirty="0" err="1">
                <a:sym typeface="Wingdings" panose="05000000000000000000" pitchFamily="2" charset="2"/>
              </a:rPr>
              <a:t>isEmpty</a:t>
            </a:r>
            <a:r>
              <a:rPr lang="en-US" b="1" dirty="0">
                <a:sym typeface="Wingdings" panose="05000000000000000000" pitchFamily="2" charset="2"/>
              </a:rPr>
              <a:t>(): Returns true is the structure is empty, false otherwise.</a:t>
            </a: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3140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7EB0-DD66-7F67-DFD8-C7128C61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ED3BE-F9E4-0A08-D9DE-CB8F888D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Exercises: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B1DFB8-104A-0E7C-2F64-2D5B35A8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B253B9-F348-DE5D-C68F-1C0D4853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FE22B8-18FF-C2E3-ABEF-C8D3335FD44E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FE22B8-18FF-C2E3-ABEF-C8D3335FD4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7BD6335-3836-A475-5308-187A51C5BF25}"/>
              </a:ext>
            </a:extLst>
          </p:cNvPr>
          <p:cNvSpPr txBox="1"/>
          <p:nvPr/>
        </p:nvSpPr>
        <p:spPr>
          <a:xfrm>
            <a:off x="-568552" y="1196752"/>
            <a:ext cx="12521788" cy="1206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Task1: Creative use of Queue and Stacks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B623D-D8C6-E6B4-8853-26F79EC55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" y="1700808"/>
            <a:ext cx="9929481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5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F4FA-6E2E-C53F-7910-DED866AB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8CB34-BAD1-CA2D-53E9-0B8E585A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Exercises: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B46F1E-A600-6D4A-FB43-DEEDF3AA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8CE55A-5706-762B-BDDD-6CBA64EB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A29DF52-A953-070A-470A-C1AA9DF538F3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A29DF52-A953-070A-470A-C1AA9DF538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F69DC91-8A09-0248-3C64-5CBCF1AE994D}"/>
              </a:ext>
            </a:extLst>
          </p:cNvPr>
          <p:cNvSpPr txBox="1"/>
          <p:nvPr/>
        </p:nvSpPr>
        <p:spPr>
          <a:xfrm>
            <a:off x="-566768" y="1052736"/>
            <a:ext cx="12521788" cy="14477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 2.1: Stacks with arrays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FDE119-B357-DD82-CF34-8F72CE46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6" y="1435582"/>
            <a:ext cx="11513791" cy="913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C35EF-19C7-62E8-A292-64E2D7084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89" y="2417977"/>
            <a:ext cx="3528392" cy="3718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4474D5-2A2E-5EBE-A232-867613DE4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356" y="2467372"/>
            <a:ext cx="3719540" cy="28622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48DA83-413A-3BFE-B193-920C1FE25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3717" y="2454714"/>
            <a:ext cx="3705252" cy="17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03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6D2C-B3D9-F0EA-1F55-510FA405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A27E09-D4D3-8641-46E5-E0430C70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1CBAF8-AFC7-6A8C-8CBF-4E8B31FC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4A9701-545C-FA82-9E87-5CBDDFF3F0CF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4A9701-545C-FA82-9E87-5CBDDFF3F0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833269C-77A1-3E79-F27B-8EB176D2A24C}"/>
              </a:ext>
            </a:extLst>
          </p:cNvPr>
          <p:cNvSpPr txBox="1"/>
          <p:nvPr/>
        </p:nvSpPr>
        <p:spPr>
          <a:xfrm>
            <a:off x="-528736" y="153478"/>
            <a:ext cx="12521788" cy="14477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 2.2: Queues with arrays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7ED664-5C2C-19FD-33A0-3759D9EB7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831"/>
            <a:ext cx="10441160" cy="8064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F0D8A-CCB3-CE52-3C60-FD5EFA953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82" y="1448437"/>
            <a:ext cx="3090850" cy="37572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C80FC8-346B-DE21-B848-68A2ADF69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504" y="1426323"/>
            <a:ext cx="2880320" cy="5278199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C70065F4-9773-9C19-E1AC-5436022A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712624" y="116632"/>
            <a:ext cx="211638" cy="128168"/>
          </a:xfrm>
        </p:spPr>
        <p:txBody>
          <a:bodyPr/>
          <a:lstStyle/>
          <a:p>
            <a:endParaRPr lang="en-CH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4C68FC-B9A6-C754-8104-0E7E98ADE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479" y="1422737"/>
            <a:ext cx="3269697" cy="499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7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8D70-6799-2CEE-0B2D-27EB17AC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B6EAEB-C9DD-7222-B705-AB5281548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A65E4F-EAB5-EA19-5F44-AD450190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5CE675-3750-5BA9-4679-C40A8122063D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5CE675-3750-5BA9-4679-C40A81220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644E6D-6B4F-669A-469D-EAC66176733A}"/>
              </a:ext>
            </a:extLst>
          </p:cNvPr>
          <p:cNvSpPr txBox="1"/>
          <p:nvPr/>
        </p:nvSpPr>
        <p:spPr>
          <a:xfrm>
            <a:off x="-597462" y="144237"/>
            <a:ext cx="12521788" cy="14477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 2.3:  Stacks with linked lists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513A5F6-47C2-D986-D14A-234201D0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712624" y="116632"/>
            <a:ext cx="211638" cy="128168"/>
          </a:xfrm>
        </p:spPr>
        <p:txBody>
          <a:bodyPr/>
          <a:lstStyle/>
          <a:p>
            <a:endParaRPr lang="en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BD7A6-3CF5-B192-610C-C14FABF2D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825"/>
            <a:ext cx="10272464" cy="823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EEFD92-81FA-D34B-10B3-3C4902CFB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211" y="1484783"/>
            <a:ext cx="2761092" cy="4589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0370A4-E30E-CE50-CFA5-BB0F54D41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704" y="1484783"/>
            <a:ext cx="2808312" cy="502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7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BEAC-C0E5-257E-5EDB-58FD4533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447FD-B47C-1A68-6169-8B7289D3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F4C275-5310-8F9B-83F1-A537B1A2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AAB54E7-8F02-6F99-7EDC-658B7D2287CD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AAB54E7-8F02-6F99-7EDC-658B7D2287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6F8F89A-F1FC-25F0-A92B-F3C3A89EDBC4}"/>
              </a:ext>
            </a:extLst>
          </p:cNvPr>
          <p:cNvSpPr txBox="1"/>
          <p:nvPr/>
        </p:nvSpPr>
        <p:spPr>
          <a:xfrm>
            <a:off x="-597462" y="144237"/>
            <a:ext cx="12521788" cy="14477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 2.4:  Queue with linked lists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5C0F9D1-BDC8-8E4F-6A23-4F82D244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712624" y="116632"/>
            <a:ext cx="211638" cy="128168"/>
          </a:xfrm>
        </p:spPr>
        <p:txBody>
          <a:bodyPr/>
          <a:lstStyle/>
          <a:p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804F9-548D-50F9-8339-F56409BD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" y="476672"/>
            <a:ext cx="9852800" cy="657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48AD94-635F-1B7F-D511-FF67BADEF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1196752"/>
            <a:ext cx="2795623" cy="49057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039D66-739C-429D-A913-C3A819735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688" y="1196751"/>
            <a:ext cx="2952328" cy="5498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0EE85B-082D-A524-0B3C-62F18719B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035" y="1196751"/>
            <a:ext cx="2880030" cy="273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7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AC08-DC87-AFA5-5CAC-8C2FE474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25A55C-5E4D-C39C-7D94-A666C300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17762C-0D9A-700C-F0C9-14C347AC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10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BE23AD-B618-5A30-0721-9FF5F8A4C4F3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BE23AD-B618-5A30-0721-9FF5F8A4C4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7865C9C-0FDF-4E56-5C7E-42DC23D5E69F}"/>
              </a:ext>
            </a:extLst>
          </p:cNvPr>
          <p:cNvSpPr txBox="1"/>
          <p:nvPr/>
        </p:nvSpPr>
        <p:spPr>
          <a:xfrm>
            <a:off x="-456728" y="404664"/>
            <a:ext cx="12521788" cy="1206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Task 3: Using Queue and Stacks in creative ways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 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473B3-FD1D-F7CD-F6B4-1A89A5BEB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908720"/>
            <a:ext cx="9507420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4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69C-C81F-39DB-EA0F-E776E25B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4C2971-EDBE-87A7-6BA5-410D9B8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9C969-EDC9-4034-C46E-9D56BCED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70483-9410-FACF-0934-51DAB32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10648715" cy="51505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for your attention.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If you have </a:t>
            </a:r>
            <a:r>
              <a:rPr lang="en-US" sz="3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any questions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write in the Olat forum or come up to 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691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bc24777f-78b6-4f3c-a73a-d5fa08e4d537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c9077d15-72ed-4fec-bcfe-3472729e9195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9115</TotalTime>
  <Words>717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Source Sans Pro</vt:lpstr>
      <vt:lpstr>Source Sans Pro SemiBold</vt:lpstr>
      <vt:lpstr>Wingdings</vt:lpstr>
      <vt:lpstr>Benutzerdefiniertes Design</vt:lpstr>
      <vt:lpstr>PowerPoint Presentation</vt:lpstr>
      <vt:lpstr>Schedule </vt:lpstr>
      <vt:lpstr>Abstract Data Types (ADTs)</vt:lpstr>
      <vt:lpstr>Staks and queues</vt:lpstr>
      <vt:lpstr>Exercises:</vt:lpstr>
      <vt:lpstr>Exercises: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Grgic</dc:creator>
  <dc:description>erstellt durch Vorlagenbauer.ch</dc:description>
  <cp:lastModifiedBy>Anto Grgic</cp:lastModifiedBy>
  <cp:revision>23</cp:revision>
  <dcterms:created xsi:type="dcterms:W3CDTF">2026-02-24T14:10:36Z</dcterms:created>
  <dcterms:modified xsi:type="dcterms:W3CDTF">2026-04-23T14:17:42Z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