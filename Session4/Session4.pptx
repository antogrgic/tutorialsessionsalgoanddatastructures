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4"/>
  </p:notesMasterIdLst>
  <p:handoutMasterIdLst>
    <p:handoutMasterId r:id="rId15"/>
  </p:handoutMasterIdLst>
  <p:sldIdLst>
    <p:sldId id="346" r:id="rId5"/>
    <p:sldId id="335" r:id="rId6"/>
    <p:sldId id="355" r:id="rId7"/>
    <p:sldId id="365" r:id="rId8"/>
    <p:sldId id="370" r:id="rId9"/>
    <p:sldId id="371" r:id="rId10"/>
    <p:sldId id="372" r:id="rId11"/>
    <p:sldId id="373" r:id="rId12"/>
    <p:sldId id="357" r:id="rId13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335"/>
            <p14:sldId id="355"/>
            <p14:sldId id="365"/>
            <p14:sldId id="370"/>
            <p14:sldId id="371"/>
            <p14:sldId id="372"/>
            <p14:sldId id="373"/>
            <p14:sldId id="3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F7F7F7"/>
    <a:srgbClr val="0028A5"/>
    <a:srgbClr val="FF66FF"/>
    <a:srgbClr val="A4D233"/>
    <a:srgbClr val="FFFFFF"/>
    <a:srgbClr val="F1F3F3"/>
    <a:srgbClr val="E5EAE9"/>
    <a:srgbClr val="E1D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94" autoAdjust="0"/>
  </p:normalViewPr>
  <p:slideViewPr>
    <p:cSldViewPr showGuides="1">
      <p:cViewPr varScale="1">
        <p:scale>
          <a:sx n="75" d="100"/>
          <a:sy n="75" d="100"/>
        </p:scale>
        <p:origin x="681" y="2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27.03.2026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27.03.2026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C515E362-FD09-4668-88D0-DD938814C8D5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fld id="{B7827833-B3EB-4D22-BDF4-3587D1185BAB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F8C16490-B6B0-45CE-820B-001EE801F293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B43C91-F0D8-4D10-AD7C-80106A87C29F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20089-3297-4BE2-B75D-7802F1A971AD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5245-EA34-4D3A-B244-6B1F8D9D1BFC}" type="datetime1">
              <a:rPr lang="en-GB" smtClean="0"/>
              <a:t>27/03/2026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Grgic Anto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46893-FD8B-47A3-B1A8-FB4C75AB05E7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7B6A-5CC5-4D65-8051-2CD5B188935C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751F-4954-4452-BFF4-12ED94DF4FA2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2DB27F-F071-4A95-9EEE-5C5CBF64EE26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80781FC-1424-4209-8A6E-9A2144BB4E72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F39C5B1-C2A0-4DDD-92D8-000840688964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FE4C3-9C6E-4FD5-958F-990E93D47FB5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5F690C5-E137-4007-8D4D-76228B1F67DB}" type="datetime1">
              <a:rPr lang="en-GB" noProof="0" smtClean="0"/>
              <a:t>27/03/2026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47-EF2E-46FA-9B55-BB5AE14DC90C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5A84FF-55FD-4307-A84C-1706BE180F7F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0507E7-22DC-4FF9-A96B-4B72D63E2C34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19E2C6A-27AF-44E0-BCA7-589AA25EC4BE}" type="datetime1">
              <a:rPr lang="en-GB" noProof="0" smtClean="0"/>
              <a:t>27/03/2026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FC6-1E20-4BFB-AA94-CA2B6A0C001C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6F8EB-C510-46A4-AC06-3410590A9997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AAB7-925B-4FF0-9C4C-ED84A2794D7B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DD47-B5A0-4950-A19A-43F01AC30E13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7C6AB-D72C-4DB2-B412-E0727C77E8DE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08F40-4162-43B2-8892-FE05E38730A8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122E3-8667-4CBC-89DA-665A2A12A766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CAA3-0E26-4D77-9861-DAEB699CEE1D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D8B0-C1F6-401E-A49C-9F8317A00928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53AD7-DD44-4CC1-898B-5978DEB5542A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0C8-24DA-4554-A89F-E5537E310C1A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65019D3-7194-40B8-AC7F-62CE5FB72B83}" type="datetime1">
              <a:rPr lang="en-GB" noProof="0" smtClean="0"/>
              <a:t>27/03/2026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3B95B4-305B-416A-97B6-6B425E07ADA1}" type="datetime1">
              <a:rPr lang="en-GB" noProof="0" smtClean="0"/>
              <a:t>27/03/2026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A9771-FEDF-4EB5-8B31-317E659CFCEB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1FF8-B7CE-4EC3-A346-E51C1211B498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1CE76-746B-4D58-8B44-9105BE8285E3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1F74-EB35-4861-A493-181201845457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ACFC5840-8FE0-42F7-AFBC-7CEE90AF5A88}" type="datetime1">
              <a:rPr lang="en-GB" noProof="0" smtClean="0"/>
              <a:t>27/03/2026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 dt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6B5B82-CC2A-6D00-1F19-2CE5ACFBF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 dirty="0"/>
              <a:t>Department of informatics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54A1B-BB1F-1482-3D90-E762B4C65B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" y="2440388"/>
            <a:ext cx="2918349" cy="1763716"/>
          </a:xfrm>
        </p:spPr>
        <p:txBody>
          <a:bodyPr/>
          <a:lstStyle/>
          <a:p>
            <a:r>
              <a:rPr lang="en-GB" noProof="0" dirty="0"/>
              <a:t>Informatics II</a:t>
            </a:r>
          </a:p>
          <a:p>
            <a:pPr lvl="1"/>
            <a:r>
              <a:rPr lang="en-GB" dirty="0"/>
              <a:t>Exercise 4</a:t>
            </a:r>
            <a:endParaRPr lang="en-GB" noProof="0" dirty="0"/>
          </a:p>
          <a:p>
            <a:pPr lvl="2"/>
            <a:r>
              <a:rPr lang="en-GB" dirty="0"/>
              <a:t>Grgic Anto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89836-3FC1-2E7C-818B-1F319309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D6D0C-2C7A-C50E-F3BF-13FABE8C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/>
              <a:t> 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02509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64101-747A-FDF3-6216-556138BE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Schedule (Corrected)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D68213-3F0E-AB01-62E0-3DA580E3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5946ECE-37E8-8B2E-C2FE-8429FF534D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0141573"/>
              </p:ext>
            </p:extLst>
          </p:nvPr>
        </p:nvGraphicFramePr>
        <p:xfrm>
          <a:off x="267738" y="628381"/>
          <a:ext cx="7017034" cy="5601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770">
                  <a:extLst>
                    <a:ext uri="{9D8B030D-6E8A-4147-A177-3AD203B41FA5}">
                      <a16:colId xmlns:a16="http://schemas.microsoft.com/office/drawing/2014/main" val="81376604"/>
                    </a:ext>
                  </a:extLst>
                </a:gridCol>
                <a:gridCol w="6063264">
                  <a:extLst>
                    <a:ext uri="{9D8B030D-6E8A-4147-A177-3AD203B41FA5}">
                      <a16:colId xmlns:a16="http://schemas.microsoft.com/office/drawing/2014/main" val="42620070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93030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27. Feb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C environment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5701312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06.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dirty="0">
                          <a:effectLst/>
                        </a:rPr>
                        <a:t> Ex1(Introduction to C, basic sorting)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3348291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13.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Ex2 (Recursion)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1401354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20.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Ex3 (Complexity, Correctness)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24132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27.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Ex4 (Divide and Conquer, Recurrence)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1914963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03. Apr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 LAB (Please attend another class) – Spring break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7433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17. Apr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Ex6 (Pointers, Linked Lists)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78196130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24. Apr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Ex7(ADTs, Stacks, Queues)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0450074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01. May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 LAB (Please attend another class) – Labor day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6440526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dirty="0"/>
                        <a:t>08.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Ex9 (Hash Tables)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3845815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15.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Ex10 (Dynamic Programming)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4914372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22.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Ex11 (Graphs)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90365515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/>
                        <a:t>29. </a:t>
                      </a:r>
                      <a:r>
                        <a:rPr lang="en-US" dirty="0"/>
                        <a:t>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Recap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52682003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04. Jun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Exam at Messe 16:00-19:00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08745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7DBEAF-F81E-BE0E-1D87-88E464380ED7}"/>
              </a:ext>
            </a:extLst>
          </p:cNvPr>
          <p:cNvSpPr txBox="1"/>
          <p:nvPr/>
        </p:nvSpPr>
        <p:spPr>
          <a:xfrm>
            <a:off x="6456040" y="606389"/>
            <a:ext cx="5400600" cy="482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	*NEXT WEEK THIS EXERCISE CLASS WON’T 	 TAKE PLACE.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9009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EFDC-B15D-DDEB-8B06-7311CC7F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1B799-25B6-C742-7881-5FD1CF6F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Divide and Conquer Algorithms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C308DF-3C47-26F3-8446-833837E5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29A3B8-7407-0B90-37CB-6D57F799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3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092526-C4C3-CB71-A080-922F723E4476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092526-C4C3-CB71-A080-922F723E44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8A19072-03CE-2932-52E4-1059AD95D8C2}"/>
              </a:ext>
            </a:extLst>
          </p:cNvPr>
          <p:cNvSpPr txBox="1"/>
          <p:nvPr/>
        </p:nvSpPr>
        <p:spPr>
          <a:xfrm>
            <a:off x="191344" y="1124744"/>
            <a:ext cx="11593288" cy="3619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Basic Idea:</a:t>
            </a:r>
          </a:p>
          <a:p>
            <a:pPr lvl="2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en-US" b="1" dirty="0"/>
              <a:t>- Divide the main problem in small, more manageable problems</a:t>
            </a:r>
          </a:p>
          <a:p>
            <a:pPr lvl="2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en-US" b="1" dirty="0"/>
              <a:t>- Solve the smaller problems</a:t>
            </a:r>
          </a:p>
          <a:p>
            <a:pPr lvl="2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en-US" b="1" dirty="0"/>
              <a:t>- Combine the solutions of the smaller problems into one for the big problem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Uses recursion as it’s mainframe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(Asymptotically) faster than the “Brute force” counterparts</a:t>
            </a:r>
          </a:p>
          <a:p>
            <a:r>
              <a:rPr lang="en-US" b="1" dirty="0"/>
              <a:t>	- But requires more memory space (For the recursive calls)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Time complexity can be calculated with it’s recursive relation</a:t>
            </a:r>
          </a:p>
          <a:p>
            <a:pPr lvl="2" indent="0">
              <a:buNone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2" indent="0">
              <a:buNone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4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EBE1-97E4-6FB5-B006-7C718A24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09F68-C736-C09D-720A-9A4C9446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Recursive relation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A2CD91-9EFE-C4A0-F70F-B107F178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31756-48D8-EEB1-DD05-6C932365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4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1C1135-81B2-9749-672B-4AC6273BA96A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1C1135-81B2-9749-672B-4AC6273BA9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C7FB622-9C87-2298-AED8-A5E8E5214CB3}"/>
              </a:ext>
            </a:extLst>
          </p:cNvPr>
          <p:cNvSpPr txBox="1"/>
          <p:nvPr/>
        </p:nvSpPr>
        <p:spPr>
          <a:xfrm>
            <a:off x="336080" y="908720"/>
            <a:ext cx="11087072" cy="3136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  Describe the exact runtime of one call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en-US" b="1" dirty="0"/>
              <a:t>- The exact runtime has a recursive component, calling itself for another input: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T(n) </a:t>
            </a:r>
            <a:r>
              <a:rPr lang="en-US" b="1" dirty="0"/>
              <a:t>= 32*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T(n-1) </a:t>
            </a:r>
            <a:r>
              <a:rPr lang="en-US" b="1" dirty="0"/>
              <a:t>+ f(n)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  Asymptotic complexity can be computed with:</a:t>
            </a:r>
          </a:p>
          <a:p>
            <a:pPr lvl="4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</a:t>
            </a:r>
            <a:r>
              <a:rPr lang="en-US" b="1" dirty="0"/>
              <a:t>- Repeated Substitution</a:t>
            </a:r>
          </a:p>
          <a:p>
            <a:pPr lvl="4" indent="0">
              <a:buNone/>
            </a:pPr>
            <a:r>
              <a:rPr lang="en-US" b="1" dirty="0"/>
              <a:t>    - Substitution Method</a:t>
            </a:r>
          </a:p>
          <a:p>
            <a:pPr lvl="4" indent="0">
              <a:buNone/>
            </a:pPr>
            <a:r>
              <a:rPr lang="en-US" b="1" dirty="0"/>
              <a:t>    - Recursion Tree</a:t>
            </a: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r>
              <a:rPr lang="en-US" b="1" dirty="0">
                <a:sym typeface="Wingdings" panose="05000000000000000000" pitchFamily="2" charset="2"/>
              </a:rPr>
              <a:t>    - Master Method</a:t>
            </a: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3140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C2565-B5A3-F6C1-1491-22C038949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750A59-FE13-E0CD-8698-62E00289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Repeated Substitution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C8DCF6-C29F-B500-1E6A-83D4BC74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F7A4A5-2B72-C3D0-2D0E-65DD3E11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5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BE477E7-3460-9A5E-3EF4-D07A7D78C3A8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BE477E7-3460-9A5E-3EF4-D07A7D78C3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39C8737-665E-F79B-6DA8-435BE8D22838}"/>
              </a:ext>
            </a:extLst>
          </p:cNvPr>
          <p:cNvSpPr txBox="1"/>
          <p:nvPr/>
        </p:nvSpPr>
        <p:spPr>
          <a:xfrm>
            <a:off x="267738" y="830005"/>
            <a:ext cx="11087072" cy="33779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Not strictly formal but straight forward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Substitute, and expand until a pattern emerges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	</a:t>
            </a:r>
            <a:r>
              <a:rPr lang="en-US" b="1" dirty="0">
                <a:sym typeface="Wingdings" panose="05000000000000000000" pitchFamily="2" charset="2"/>
              </a:rPr>
              <a:t>- The pattern will depend on another variable (ex. k)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Set your variable so that the recursive relation for T(n) calls the 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base case</a:t>
            </a:r>
          </a:p>
          <a:p>
            <a:pPr marL="285750" indent="-285750">
              <a:buFontTx/>
              <a:buChar char="-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Get the asymptotical complexity</a:t>
            </a: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73B4CD-90B7-A123-76C4-9BA5B1095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375" y="692696"/>
            <a:ext cx="5033999" cy="408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55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0822A-C75A-37D4-ED7F-4B15E31EB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4A2AB6-B521-BBCE-1590-E44487075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Substitution Method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D1C514-2AC3-52DF-0B90-469446C4A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61F2A2-24D9-4CF8-6DC8-70B5A7BA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6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669FE9F-92AD-6017-435C-87A86DC1B6DB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669FE9F-92AD-6017-435C-87A86DC1B6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623161A-1DF1-6B21-AAF7-5D93173AF7A8}"/>
              </a:ext>
            </a:extLst>
          </p:cNvPr>
          <p:cNvSpPr txBox="1"/>
          <p:nvPr/>
        </p:nvSpPr>
        <p:spPr>
          <a:xfrm>
            <a:off x="267738" y="830005"/>
            <a:ext cx="11087072" cy="3136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More formal, but requires a good guess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Guess the form of the solution.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Use induction to prove the solution</a:t>
            </a:r>
          </a:p>
          <a:p>
            <a:pPr marL="285750" indent="-285750">
              <a:buFontTx/>
              <a:buChar char="-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Get the asymptotical complexity</a:t>
            </a:r>
          </a:p>
          <a:p>
            <a:pPr marL="285750" indent="-285750">
              <a:buFontTx/>
              <a:buChar char="-"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81F1A9-8FD2-344E-ACDE-93ABF2F5D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992" y="629872"/>
            <a:ext cx="5873840" cy="3878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79A09B-B287-6E2E-175E-5372A1260BA4}"/>
              </a:ext>
            </a:extLst>
          </p:cNvPr>
          <p:cNvSpPr txBox="1"/>
          <p:nvPr/>
        </p:nvSpPr>
        <p:spPr>
          <a:xfrm>
            <a:off x="5375920" y="5013578"/>
            <a:ext cx="5688632" cy="1688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	*Note that here we are getting a upper bound. We 	 could use the same process to find a lower 	 	 bound (es. a constant would be trivial but still 	 	 correct.)</a:t>
            </a:r>
          </a:p>
          <a:p>
            <a:r>
              <a:rPr lang="en-US" b="1" dirty="0"/>
              <a:t>	 To find a tight bound we would need to find an 	 	 upper bound and a lower bound of the same 	  	 asymptotic complexity.</a:t>
            </a:r>
            <a:endParaRPr lang="en-CH" b="1" dirty="0"/>
          </a:p>
        </p:txBody>
      </p:sp>
    </p:spTree>
    <p:extLst>
      <p:ext uri="{BB962C8B-B14F-4D97-AF65-F5344CB8AC3E}">
        <p14:creationId xmlns:p14="http://schemas.microsoft.com/office/powerpoint/2010/main" val="1943213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E70F5-6FAF-8913-6A19-CB199A1D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2EBE1E-919D-E713-38C6-D3DF8660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Recursion</a:t>
            </a: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Tree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398E77-E177-E97D-7B5F-548B09F65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0DEC6E-FE8B-07E1-FBEE-A93A8B04C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7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22A1849-A22D-03FA-28BF-4005B31E691E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22A1849-A22D-03FA-28BF-4005B31E69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02D369B-9856-3E8E-04EC-37B7C93F3D36}"/>
              </a:ext>
            </a:extLst>
          </p:cNvPr>
          <p:cNvSpPr txBox="1"/>
          <p:nvPr/>
        </p:nvSpPr>
        <p:spPr>
          <a:xfrm>
            <a:off x="267738" y="870744"/>
            <a:ext cx="5396214" cy="3136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Similar to the repeated substitution but graphical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Get the basic cost (f(n))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Expand the tree and add each level cost</a:t>
            </a:r>
          </a:p>
          <a:p>
            <a:pPr marL="285750" indent="-285750">
              <a:buFontTx/>
              <a:buChar char="-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Find a pattern and calculate the asymptotic complexity</a:t>
            </a:r>
          </a:p>
          <a:p>
            <a:pPr marL="285750" indent="-285750">
              <a:buFontTx/>
              <a:buChar char="-"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1B4FFF-5879-FB87-C7C1-AC136D4DC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112" y="515017"/>
            <a:ext cx="3233761" cy="3429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EE8A20-678A-ECCE-D19B-FC4A625F7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769" y="1700808"/>
            <a:ext cx="5971203" cy="285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137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BD56A-5CB8-690D-4FC6-AD891746E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42FB5-C39D-B36B-DF31-B7AFB3B4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75000"/>
                  </a:schemeClr>
                </a:solidFill>
              </a:rPr>
              <a:t>Master method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B72BBC-C85D-8EC8-FE0B-B4825C15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B5DF77-3A30-773E-ED74-01CD9E5E9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8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F792BE9-BC21-FB10-BE65-513FA6355F04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F792BE9-BC21-FB10-BE65-513FA6355F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19C4444-36B4-8096-8544-0A9F386DB708}"/>
              </a:ext>
            </a:extLst>
          </p:cNvPr>
          <p:cNvSpPr txBox="1"/>
          <p:nvPr/>
        </p:nvSpPr>
        <p:spPr>
          <a:xfrm>
            <a:off x="191344" y="849355"/>
            <a:ext cx="6548342" cy="28954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The recurrence relation has to be in a specific form: 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Extract a, b and f(n)</a:t>
            </a:r>
          </a:p>
          <a:p>
            <a:pPr marL="285750" indent="-285750">
              <a:buFontTx/>
              <a:buChar char="-"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- Check each case and simply insert the numbers:</a:t>
            </a:r>
          </a:p>
          <a:p>
            <a:pPr marL="285750" indent="-285750">
              <a:buFontTx/>
              <a:buChar char="-"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lvl="4" indent="0">
              <a:buNone/>
            </a:pPr>
            <a:endParaRPr lang="en-US" b="1" dirty="0">
              <a:sym typeface="Wingdings" panose="05000000000000000000" pitchFamily="2" charset="2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AAA9B2-395E-B130-4BA5-4108164F9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135" y="324173"/>
            <a:ext cx="5094104" cy="18438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E96D58-96D5-97FA-B639-05E35BC68F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44" y="3088482"/>
            <a:ext cx="3252824" cy="25850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389AC3-438F-C234-AEDB-C98683DB05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7768" y="3073624"/>
            <a:ext cx="3610890" cy="24336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788DC2B-3BF6-1477-12C2-A789D6D65C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214" y="2525385"/>
            <a:ext cx="3933854" cy="404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19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5A69C-C81F-39DB-EA0F-E776E25B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4C2971-EDBE-87A7-6BA5-410D9B8A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39C969-EDC9-4034-C46E-9D56BCED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70483-9410-FACF-0934-51DAB32DD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870744"/>
            <a:ext cx="10648715" cy="515054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 for your attention.</a:t>
            </a:r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If you have </a:t>
            </a:r>
            <a:r>
              <a:rPr lang="en-US" sz="3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any questions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write in the Olat forum or come up to me.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EC6D648-79AD-958C-A6EA-55977F4CE9AC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EC6D648-79AD-958C-A6EA-55977F4CE9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1691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c9077d15-72ed-4fec-bcfe-3472729e9195"/>
    <ds:schemaRef ds:uri="http://schemas.microsoft.com/office/infopath/2007/PartnerControls"/>
    <ds:schemaRef ds:uri="http://schemas.openxmlformats.org/package/2006/metadata/core-properties"/>
    <ds:schemaRef ds:uri="bc24777f-78b6-4f3c-a73a-d5fa08e4d537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2719</TotalTime>
  <Words>606</Words>
  <Application>Microsoft Office PowerPoint</Application>
  <PresentationFormat>Widescreen</PresentationFormat>
  <Paragraphs>131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Source Sans Pro</vt:lpstr>
      <vt:lpstr>Source Sans Pro SemiBold</vt:lpstr>
      <vt:lpstr>Wingdings</vt:lpstr>
      <vt:lpstr>Benutzerdefiniertes Design</vt:lpstr>
      <vt:lpstr>PowerPoint Presentation</vt:lpstr>
      <vt:lpstr>Schedule (Corrected)</vt:lpstr>
      <vt:lpstr>Divide and Conquer Algorithms </vt:lpstr>
      <vt:lpstr>Recursive relation</vt:lpstr>
      <vt:lpstr>Repeated Substitution</vt:lpstr>
      <vt:lpstr>Substitution Method</vt:lpstr>
      <vt:lpstr>Recursion Tree</vt:lpstr>
      <vt:lpstr>Master method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 Grgic</dc:creator>
  <dc:description>erstellt durch Vorlagenbauer.ch</dc:description>
  <cp:lastModifiedBy>Anto Grgic</cp:lastModifiedBy>
  <cp:revision>16</cp:revision>
  <dcterms:created xsi:type="dcterms:W3CDTF">2026-02-24T14:10:36Z</dcterms:created>
  <dcterms:modified xsi:type="dcterms:W3CDTF">2026-03-27T08:44:37Z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