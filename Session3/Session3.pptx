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4"/>
  </p:notesMasterIdLst>
  <p:handoutMasterIdLst>
    <p:handoutMasterId r:id="rId15"/>
  </p:handoutMasterIdLst>
  <p:sldIdLst>
    <p:sldId id="346" r:id="rId5"/>
    <p:sldId id="335" r:id="rId6"/>
    <p:sldId id="355" r:id="rId7"/>
    <p:sldId id="365" r:id="rId8"/>
    <p:sldId id="368" r:id="rId9"/>
    <p:sldId id="369" r:id="rId10"/>
    <p:sldId id="354" r:id="rId11"/>
    <p:sldId id="356" r:id="rId12"/>
    <p:sldId id="357" r:id="rId13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335"/>
            <p14:sldId id="355"/>
            <p14:sldId id="365"/>
            <p14:sldId id="368"/>
            <p14:sldId id="369"/>
            <p14:sldId id="354"/>
            <p14:sldId id="356"/>
            <p14:sldId id="3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7F7F7"/>
    <a:srgbClr val="0028A5"/>
    <a:srgbClr val="FF66FF"/>
    <a:srgbClr val="A4D233"/>
    <a:srgbClr val="FFFFFF"/>
    <a:srgbClr val="F1F3F3"/>
    <a:srgbClr val="E5EAE9"/>
    <a:srgbClr val="E1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8" autoAdjust="0"/>
    <p:restoredTop sz="94694" autoAdjust="0"/>
  </p:normalViewPr>
  <p:slideViewPr>
    <p:cSldViewPr showGuides="1">
      <p:cViewPr varScale="1">
        <p:scale>
          <a:sx n="75" d="100"/>
          <a:sy n="75" d="100"/>
        </p:scale>
        <p:origin x="801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20.03.2026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20.03.2026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C515E362-FD09-4668-88D0-DD938814C8D5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B7827833-B3EB-4D22-BDF4-3587D1185BAB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F8C16490-B6B0-45CE-820B-001EE801F293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B43C91-F0D8-4D10-AD7C-80106A87C29F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20089-3297-4BE2-B75D-7802F1A971AD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5245-EA34-4D3A-B244-6B1F8D9D1BFC}" type="datetime1">
              <a:rPr lang="en-GB" smtClean="0"/>
              <a:t>20/03/2026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Grgic Anto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46893-FD8B-47A3-B1A8-FB4C75AB05E7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7B6A-5CC5-4D65-8051-2CD5B188935C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751F-4954-4452-BFF4-12ED94DF4FA2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2DB27F-F071-4A95-9EEE-5C5CBF64EE26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80781FC-1424-4209-8A6E-9A2144BB4E72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F39C5B1-C2A0-4DDD-92D8-000840688964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FE4C3-9C6E-4FD5-958F-990E93D47FB5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5F690C5-E137-4007-8D4D-76228B1F67DB}" type="datetime1">
              <a:rPr lang="en-GB" noProof="0" smtClean="0"/>
              <a:t>20/03/2026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47-EF2E-46FA-9B55-BB5AE14DC90C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5A84FF-55FD-4307-A84C-1706BE180F7F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0507E7-22DC-4FF9-A96B-4B72D63E2C34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9E2C6A-27AF-44E0-BCA7-589AA25EC4BE}" type="datetime1">
              <a:rPr lang="en-GB" noProof="0" smtClean="0"/>
              <a:t>20/03/2026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FC6-1E20-4BFB-AA94-CA2B6A0C001C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F8EB-C510-46A4-AC06-3410590A9997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AAB7-925B-4FF0-9C4C-ED84A2794D7B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DD47-B5A0-4950-A19A-43F01AC30E13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7C6AB-D72C-4DB2-B412-E0727C77E8DE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08F40-4162-43B2-8892-FE05E38730A8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122E3-8667-4CBC-89DA-665A2A12A766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CAA3-0E26-4D77-9861-DAEB699CEE1D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D8B0-C1F6-401E-A49C-9F8317A00928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3AD7-DD44-4CC1-898B-5978DEB5542A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0C8-24DA-4554-A89F-E5537E310C1A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65019D3-7194-40B8-AC7F-62CE5FB72B83}" type="datetime1">
              <a:rPr lang="en-GB" noProof="0" smtClean="0"/>
              <a:t>20/03/2026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3B95B4-305B-416A-97B6-6B425E07ADA1}" type="datetime1">
              <a:rPr lang="en-GB" noProof="0" smtClean="0"/>
              <a:t>20/03/2026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A9771-FEDF-4EB5-8B31-317E659CFCEB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1FF8-B7CE-4EC3-A346-E51C1211B498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1CE76-746B-4D58-8B44-9105BE8285E3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1F74-EB35-4861-A493-181201845457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ACFC5840-8FE0-42F7-AFBC-7CEE90AF5A88}" type="datetime1">
              <a:rPr lang="en-GB" noProof="0" smtClean="0"/>
              <a:t>20/03/2026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 dt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6B5B82-CC2A-6D00-1F19-2CE5ACFBF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 dirty="0"/>
              <a:t>Department of informatics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54A1B-BB1F-1482-3D90-E762B4C65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" y="2440388"/>
            <a:ext cx="2918349" cy="1763716"/>
          </a:xfrm>
        </p:spPr>
        <p:txBody>
          <a:bodyPr/>
          <a:lstStyle/>
          <a:p>
            <a:r>
              <a:rPr lang="en-GB" noProof="0" dirty="0"/>
              <a:t>Informatics II</a:t>
            </a:r>
          </a:p>
          <a:p>
            <a:pPr lvl="1"/>
            <a:r>
              <a:rPr lang="en-GB" dirty="0"/>
              <a:t>Exercise 3</a:t>
            </a:r>
            <a:endParaRPr lang="en-GB" noProof="0" dirty="0"/>
          </a:p>
          <a:p>
            <a:pPr lvl="2"/>
            <a:r>
              <a:rPr lang="en-GB" dirty="0"/>
              <a:t>Grgic Anto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89836-3FC1-2E7C-818B-1F319309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D6D0C-2C7A-C50E-F3BF-13FABE8C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/>
              <a:t>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250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64101-747A-FDF3-6216-556138BE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 (Corrected)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D68213-3F0E-AB01-62E0-3DA580E3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5946ECE-37E8-8B2E-C2FE-8429FF534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0141573"/>
              </p:ext>
            </p:extLst>
          </p:nvPr>
        </p:nvGraphicFramePr>
        <p:xfrm>
          <a:off x="267738" y="628381"/>
          <a:ext cx="7017034" cy="560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770">
                  <a:extLst>
                    <a:ext uri="{9D8B030D-6E8A-4147-A177-3AD203B41FA5}">
                      <a16:colId xmlns:a16="http://schemas.microsoft.com/office/drawing/2014/main" val="81376604"/>
                    </a:ext>
                  </a:extLst>
                </a:gridCol>
                <a:gridCol w="6063264">
                  <a:extLst>
                    <a:ext uri="{9D8B030D-6E8A-4147-A177-3AD203B41FA5}">
                      <a16:colId xmlns:a16="http://schemas.microsoft.com/office/drawing/2014/main" val="4262007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930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27. Feb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C environment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570131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06.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dirty="0">
                          <a:effectLst/>
                        </a:rPr>
                        <a:t> Ex1(Introduction to C, basic sorting)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348291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13.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Ex2 (Recursion)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140135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20.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Ex3 (Complexity, Correctness)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24132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27.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Ex4 (Divide and Conquer, Recurrence)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191496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03. Apr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Spring break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7433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17.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Ex6 (Pointers, Linked Lists)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81961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24.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Ex7(ADTs, Stacks, Queues)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045007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01. May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Labor day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6440526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dirty="0"/>
                        <a:t>08.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Ex9 (Hash Tables)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845815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15.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Ex10 (Dynamic Programming)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491437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22.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Ex11 (Graphs)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0365515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/>
                        <a:t>29. </a:t>
                      </a:r>
                      <a:r>
                        <a:rPr lang="en-US" dirty="0"/>
                        <a:t>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Recap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268200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04. Jun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Exam at Messe 16:00-19:00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087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09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EFDC-B15D-DDEB-8B06-7311CC7F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1B799-25B6-C742-7881-5FD1CF6F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Binary search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C308DF-3C47-26F3-8446-833837E5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29A3B8-7407-0B90-37CB-6D57F799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3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8A19072-03CE-2932-52E4-1059AD95D8C2}"/>
              </a:ext>
            </a:extLst>
          </p:cNvPr>
          <p:cNvSpPr txBox="1"/>
          <p:nvPr/>
        </p:nvSpPr>
        <p:spPr>
          <a:xfrm>
            <a:off x="191344" y="1124744"/>
            <a:ext cx="11593288" cy="12064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 Array needs to be sorted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 Time complexity of O(log(n))</a:t>
            </a:r>
          </a:p>
          <a:p>
            <a:pPr lvl="2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/>
              <a:t>- Is that good? Why?</a:t>
            </a:r>
          </a:p>
          <a:p>
            <a:pPr lvl="2" indent="0">
              <a:buNone/>
            </a:pP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4F731F-7909-493B-D494-89134EBB4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350" y="277840"/>
            <a:ext cx="5978226" cy="60381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9AD156-3FB2-86C9-6413-68C9B3B75743}"/>
              </a:ext>
            </a:extLst>
          </p:cNvPr>
          <p:cNvSpPr txBox="1"/>
          <p:nvPr/>
        </p:nvSpPr>
        <p:spPr>
          <a:xfrm>
            <a:off x="191344" y="2330669"/>
            <a:ext cx="5256224" cy="7238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idea is to delete half of the possibilities on each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Iteration of the algorithm by looking at the middle 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of the array 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4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EBE1-97E4-6FB5-B006-7C718A24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09F68-C736-C09D-720A-9A4C9446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Time complexity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A2CD91-9EFE-C4A0-F70F-B107F178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31756-48D8-EEB1-DD05-6C932365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4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1C1135-81B2-9749-672B-4AC6273BA96A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1C1135-81B2-9749-672B-4AC6273BA9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C7FB622-9C87-2298-AED8-A5E8E5214CB3}"/>
              </a:ext>
            </a:extLst>
          </p:cNvPr>
          <p:cNvSpPr txBox="1"/>
          <p:nvPr/>
        </p:nvSpPr>
        <p:spPr>
          <a:xfrm>
            <a:off x="336080" y="908720"/>
            <a:ext cx="11087072" cy="3136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Exact runtime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/>
              <a:t>- Exact number of operation the algorithm computes: T(n) = 32*n + 16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Asymptotic Complexity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</a:t>
            </a:r>
            <a:r>
              <a:rPr lang="en-US" b="1" dirty="0"/>
              <a:t>- Different kind of Asymptotic Complexities</a:t>
            </a:r>
          </a:p>
          <a:p>
            <a:pPr lvl="4" indent="0">
              <a:buNone/>
            </a:pPr>
            <a:r>
              <a:rPr lang="en-US" b="1" dirty="0"/>
              <a:t>    - Simplified Exact runtime</a:t>
            </a:r>
          </a:p>
          <a:p>
            <a:pPr lvl="4" indent="0">
              <a:buNone/>
            </a:pPr>
            <a:r>
              <a:rPr lang="en-US" b="1" dirty="0"/>
              <a:t>    - Focuses on “The biggest offender” </a:t>
            </a: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r>
              <a:rPr lang="en-US" b="1" dirty="0">
                <a:sym typeface="Wingdings" panose="05000000000000000000" pitchFamily="2" charset="2"/>
              </a:rPr>
              <a:t>    - T(n) = 32*n + 16  O(n) = n</a:t>
            </a: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3D8BB-A98E-635F-3190-50BD6440F413}"/>
              </a:ext>
            </a:extLst>
          </p:cNvPr>
          <p:cNvSpPr txBox="1"/>
          <p:nvPr/>
        </p:nvSpPr>
        <p:spPr>
          <a:xfrm>
            <a:off x="336080" y="3223533"/>
            <a:ext cx="11520920" cy="2412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Tells us how long an algorithm will take to compute based on it’s input length 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40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348FE-C394-BCDD-AD76-2B03A34E5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C8379D-B0D9-E4FE-80E2-7C8A014EF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Time complexity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E0F3C1-28D7-2E5D-3894-E2E12516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7A9258-1EAF-3E9E-D3D6-8D830F54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5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3044E1B-4B9C-8813-EC79-9F56F8A4BE12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3044E1B-4B9C-8813-EC79-9F56F8A4BE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9E0305D-9E38-4766-7D38-4E5DB6197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16" y="904032"/>
            <a:ext cx="4282364" cy="14484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175BE6-63A6-6D12-4348-D00D6A1A8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60" y="2636912"/>
            <a:ext cx="4366434" cy="12420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386191-A55C-8EA5-22BE-85535CD804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42" y="4357384"/>
            <a:ext cx="4860711" cy="12877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073E3D-3E28-EEB3-0A04-F32480B77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5920" y="433239"/>
            <a:ext cx="3414339" cy="17373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4F55C9-B312-AD83-B085-686B21DFCE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6746" y="2428099"/>
            <a:ext cx="3543303" cy="16596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AF4724-1E96-8D6B-9A79-1460D4B9AE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0722" y="4406071"/>
            <a:ext cx="3961048" cy="17575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1032F53-597A-A361-F33C-7C46E291B091}"/>
              </a:ext>
            </a:extLst>
          </p:cNvPr>
          <p:cNvSpPr txBox="1"/>
          <p:nvPr/>
        </p:nvSpPr>
        <p:spPr>
          <a:xfrm>
            <a:off x="9000848" y="5892864"/>
            <a:ext cx="2921276" cy="965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 only care about the behavior of f(n)  and g(n) after a certain n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₀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9159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B690C-9508-118F-7D1D-05853545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740707-E7C5-B373-E6FE-1DE5A917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Time complexity (cheat sheet)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6E8105-D20C-18B1-8C0A-CC2BA9FB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98426C-21A9-D255-DB25-5EC23A4CD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5467D2C-E640-E54B-0B67-6595F759ED9D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5467D2C-E640-E54B-0B67-6595F759ED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33EB430-7AC0-3397-A8CF-A8C37B6E5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8" y="719386"/>
            <a:ext cx="7159643" cy="25655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EF7B81-CCEB-826B-9F54-5A0E70913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801" y="557772"/>
            <a:ext cx="3209631" cy="16491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143B39-32FF-0EC7-CBAA-45C86A92D3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352" y="3180035"/>
            <a:ext cx="3600400" cy="9638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1B9554-A616-5738-BF7B-5E5E9A95B3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355" b="18382"/>
          <a:stretch>
            <a:fillRect/>
          </a:stretch>
        </p:blipFill>
        <p:spPr>
          <a:xfrm>
            <a:off x="191344" y="4077072"/>
            <a:ext cx="4593086" cy="19431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09AA02C-FCE1-3D0A-D8F8-7622D449EC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8602" y="2254531"/>
            <a:ext cx="3900046" cy="95856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C95C1FB-3E76-966F-5772-703D27CACF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8602" y="3602773"/>
            <a:ext cx="3209631" cy="269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13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9AEC-4361-626A-D0CE-2927E407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1D15F-A189-9CEA-5D2E-5418233B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24E3D7-E7B3-DA74-C946-5471FFD8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AC057A-3CEA-53DE-5609-B313BEFE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7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28BECC8-F668-F104-1F82-9E24E3827BBE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28BECC8-F668-F104-1F82-9E24E3827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F3DD5F8-8D92-52DD-B77B-E94EF507370F}"/>
              </a:ext>
            </a:extLst>
          </p:cNvPr>
          <p:cNvSpPr txBox="1"/>
          <p:nvPr/>
        </p:nvSpPr>
        <p:spPr>
          <a:xfrm>
            <a:off x="407368" y="764704"/>
            <a:ext cx="8702720" cy="9084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Exercise to familiarize yourself with the binary search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Look at the solutions, if you still have question ask directly to me or on OLAT</a:t>
            </a:r>
          </a:p>
        </p:txBody>
      </p:sp>
    </p:spTree>
    <p:extLst>
      <p:ext uri="{BB962C8B-B14F-4D97-AF65-F5344CB8AC3E}">
        <p14:creationId xmlns:p14="http://schemas.microsoft.com/office/powerpoint/2010/main" val="3590058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8F82-28C7-021B-F39F-FCFB1A5C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8B837E-C8A3-94D4-1356-40C077A4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2, 3, 4, 5.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EBCCCC-F9EC-C840-E3A6-C3E64701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580905-30AB-E89C-670B-40BEFB9F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8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DA4DD91-D0AD-928D-4FFC-34BF63C2296A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DA4DD91-D0AD-928D-4FFC-34BF63C229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C182EF-82F8-DC23-CB28-ED3E1CC56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053" y="980729"/>
            <a:ext cx="11650663" cy="2016224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 Use asymptotic complexity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 Use the </a:t>
            </a:r>
            <a:r>
              <a:rPr lang="en-GB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cheat sheet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830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5A69C-C81F-39DB-EA0F-E776E25B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4C2971-EDBE-87A7-6BA5-410D9B8A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39C969-EDC9-4034-C46E-9D56BCED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70483-9410-FACF-0934-51DAB32DD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870744"/>
            <a:ext cx="10648715" cy="515054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 for your attention.</a:t>
            </a: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If you have any question write in the Olat forum or come up to me.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1691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9077d15-72ed-4fec-bcfe-3472729e9195"/>
    <ds:schemaRef ds:uri="http://purl.org/dc/dcmitype/"/>
    <ds:schemaRef ds:uri="bc24777f-78b6-4f3c-a73a-d5fa08e4d53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2434</TotalTime>
  <Words>420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Source Sans Pro</vt:lpstr>
      <vt:lpstr>Source Sans Pro SemiBold</vt:lpstr>
      <vt:lpstr>Times New Roman</vt:lpstr>
      <vt:lpstr>Wingdings</vt:lpstr>
      <vt:lpstr>Benutzerdefiniertes Design</vt:lpstr>
      <vt:lpstr>PowerPoint Presentation</vt:lpstr>
      <vt:lpstr>Schedule (Corrected)</vt:lpstr>
      <vt:lpstr>Binary search</vt:lpstr>
      <vt:lpstr>Time complexity</vt:lpstr>
      <vt:lpstr>Time complexity</vt:lpstr>
      <vt:lpstr>Time complexity (cheat sheet)</vt:lpstr>
      <vt:lpstr>Task 1.</vt:lpstr>
      <vt:lpstr>Task 2, 3, 4, 5.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 Grgic</dc:creator>
  <dc:description>erstellt durch Vorlagenbauer.ch</dc:description>
  <cp:lastModifiedBy>Anto Grgic</cp:lastModifiedBy>
  <cp:revision>14</cp:revision>
  <dcterms:created xsi:type="dcterms:W3CDTF">2026-02-24T14:10:36Z</dcterms:created>
  <dcterms:modified xsi:type="dcterms:W3CDTF">2026-03-20T08:38:24Z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